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 panose="020F0502020204030204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 panose="020F0502020204030204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 panose="020F0502020204030204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 panose="020F0502020204030204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 panose="020F0502020204030204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 panose="020F0502020204030204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 panose="020F0502020204030204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 panose="020F0502020204030204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 panose="020F0502020204030204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686800" y="365760"/>
            <a:ext cx="1097280" cy="2194560"/>
          </a:xfrm>
          <a:prstGeom prst="line">
            <a:avLst/>
          </a:prstGeom>
          <a:ln w="762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235440" y="365760"/>
            <a:ext cx="1097279" cy="2194560"/>
          </a:xfrm>
          <a:prstGeom prst="line">
            <a:avLst/>
          </a:prstGeom>
          <a:ln w="762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784080" y="365760"/>
            <a:ext cx="1097280" cy="2194560"/>
          </a:xfrm>
          <a:prstGeom prst="line">
            <a:avLst/>
          </a:prstGeom>
          <a:ln w="762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332719" y="365760"/>
            <a:ext cx="1097281" cy="2194560"/>
          </a:xfrm>
          <a:prstGeom prst="line">
            <a:avLst/>
          </a:prstGeom>
          <a:ln w="762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881360" y="365760"/>
            <a:ext cx="1097279" cy="2194560"/>
          </a:xfrm>
          <a:prstGeom prst="line">
            <a:avLst/>
          </a:prstGeom>
          <a:ln w="762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7315200" cy="4572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Space Grotesk"/>
              </a:rPr>
              <a:t>BOOMING VENTURE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10515600" cy="18288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Space Grotesk"/>
              </a:rPr>
              <a:t>Smarter growth.
Clear strategy.
Creative performance.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058400" cy="54864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800" b="0" i="0">
                <a:solidFill>
                  <a:srgbClr val="E2E8F0"/>
                </a:solidFill>
                <a:latin typeface="Inter"/>
              </a:rPr>
              <a:t>AI-powered marketing that delivers results. Personality. Powered by AI.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486400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486400"/>
            <a:ext cx="2194560" cy="548640"/>
          </a:xfrm>
          <a:prstGeom prst="rect">
            <a:avLst/>
          </a:prstGeom>
          <a:noFill/>
        </p:spPr>
        <p:txBody>
          <a:bodyPr wrap="square" tIns="25400" bIns="25400" lIns="25400" r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pace Grotesk"/>
              </a:rPr>
              <a:t>Start the Journey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5486400"/>
            <a:ext cx="2377440" cy="548640"/>
          </a:xfrm>
          <a:prstGeom prst="rect">
            <a:avLst/>
          </a:prstGeom>
          <a:noFill/>
        </p:spPr>
        <p:txBody>
          <a:bodyPr wrap="square" tIns="25400" bIns="25400" lIns="25400" rIns="25400" anchor="ctr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Inter"/>
              </a:rPr>
              <a:t>Email Us Directly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Inter"/>
              </a:rPr>
              <a:t>Presenter Name  |  Rotterdam, The Netherlands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548640" cy="4445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058400" cy="6400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3200" b="1" i="0">
                <a:solidFill>
                  <a:srgbClr val="0C1A2E"/>
                </a:solidFill>
                <a:latin typeface="Space Grotesk"/>
              </a:rPr>
              <a:t>Numbers that frame the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058400" cy="36576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Inter"/>
              </a:rPr>
              <a:t>Replace with your own metrics. Layout mirrors the homepage hero stats card.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5187" y="2743200"/>
            <a:ext cx="24688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5187" y="2743200"/>
            <a:ext cx="2468880" cy="54864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187" y="3291840"/>
            <a:ext cx="2468880" cy="1280160"/>
          </a:xfrm>
          <a:prstGeom prst="rect">
            <a:avLst/>
          </a:prstGeom>
          <a:noFill/>
        </p:spPr>
        <p:txBody>
          <a:bodyPr wrap="square" tIns="25400" bIns="25400" lIns="25400" rIns="25400" anchor="ctr">
            <a:spAutoFit/>
          </a:bodyPr>
          <a:lstStyle/>
          <a:p>
            <a:pPr algn="ctr"/>
            <a:r>
              <a:rPr sz="4800" b="1" i="0">
                <a:solidFill>
                  <a:srgbClr val="0284C7"/>
                </a:solidFill>
                <a:latin typeface="Space Grotesk"/>
              </a:rPr>
              <a:t>97%</a:t>
            </a:r>
          </a:p>
        </p:txBody>
      </p:sp>
      <p:sp>
        <p:nvSpPr>
          <p:cNvPr id="9" name="Rectangle 8"/>
          <p:cNvSpPr/>
          <p:nvPr/>
        </p:nvSpPr>
        <p:spPr>
          <a:xfrm>
            <a:off x="1775307" y="4572000"/>
            <a:ext cx="548640" cy="254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187" y="4754880"/>
            <a:ext cx="2468880" cy="9144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ctr"/>
            <a:r>
              <a:rPr sz="1400" b="0" i="0">
                <a:solidFill>
                  <a:srgbClr val="1F2937"/>
                </a:solidFill>
                <a:latin typeface="Inter"/>
              </a:rPr>
              <a:t>Client satisfaction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2667" y="2743200"/>
            <a:ext cx="24688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2667" y="2743200"/>
            <a:ext cx="2468880" cy="54864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2667" y="3291840"/>
            <a:ext cx="2468880" cy="1280160"/>
          </a:xfrm>
          <a:prstGeom prst="rect">
            <a:avLst/>
          </a:prstGeom>
          <a:noFill/>
        </p:spPr>
        <p:txBody>
          <a:bodyPr wrap="square" tIns="25400" bIns="25400" lIns="25400" rIns="25400" anchor="ctr">
            <a:spAutoFit/>
          </a:bodyPr>
          <a:lstStyle/>
          <a:p>
            <a:pPr algn="ctr"/>
            <a:r>
              <a:rPr sz="4800" b="1" i="0">
                <a:solidFill>
                  <a:srgbClr val="0284C7"/>
                </a:solidFill>
                <a:latin typeface="Space Grotesk"/>
              </a:rPr>
              <a:t>+48%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72787" y="4572000"/>
            <a:ext cx="548640" cy="254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12667" y="4754880"/>
            <a:ext cx="2468880" cy="9144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ctr"/>
            <a:r>
              <a:rPr sz="1400" b="0" i="0">
                <a:solidFill>
                  <a:srgbClr val="1F2937"/>
                </a:solidFill>
                <a:latin typeface="Inter"/>
              </a:rPr>
              <a:t>Average growth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2743200"/>
            <a:ext cx="24688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2743200"/>
            <a:ext cx="2468880" cy="54864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0147" y="3291840"/>
            <a:ext cx="2468880" cy="1280160"/>
          </a:xfrm>
          <a:prstGeom prst="rect">
            <a:avLst/>
          </a:prstGeom>
          <a:noFill/>
        </p:spPr>
        <p:txBody>
          <a:bodyPr wrap="square" tIns="25400" bIns="25400" lIns="25400" rIns="25400" anchor="ctr">
            <a:spAutoFit/>
          </a:bodyPr>
          <a:lstStyle/>
          <a:p>
            <a:pPr algn="ctr"/>
            <a:r>
              <a:rPr sz="4800" b="1" i="0">
                <a:solidFill>
                  <a:srgbClr val="0284C7"/>
                </a:solidFill>
                <a:latin typeface="Space Grotesk"/>
              </a:rPr>
              <a:t>15+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70267" y="4572000"/>
            <a:ext cx="548640" cy="254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0147" y="4754880"/>
            <a:ext cx="2468880" cy="9144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ctr"/>
            <a:r>
              <a:rPr sz="1400" b="0" i="0">
                <a:solidFill>
                  <a:srgbClr val="1F2937"/>
                </a:solidFill>
                <a:latin typeface="Inter"/>
              </a:rPr>
              <a:t>Businesses helped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07627" y="2743200"/>
            <a:ext cx="24688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07627" y="2743200"/>
            <a:ext cx="2468880" cy="54864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07627" y="3291840"/>
            <a:ext cx="2468880" cy="1280160"/>
          </a:xfrm>
          <a:prstGeom prst="rect">
            <a:avLst/>
          </a:prstGeom>
          <a:noFill/>
        </p:spPr>
        <p:txBody>
          <a:bodyPr wrap="square" tIns="25400" bIns="25400" lIns="25400" rIns="25400" anchor="ctr">
            <a:spAutoFit/>
          </a:bodyPr>
          <a:lstStyle/>
          <a:p>
            <a:pPr algn="ctr"/>
            <a:r>
              <a:rPr sz="4800" b="1" i="0">
                <a:solidFill>
                  <a:srgbClr val="0284C7"/>
                </a:solidFill>
                <a:latin typeface="Space Grotesk"/>
              </a:rPr>
              <a:t>24/7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67747" y="4572000"/>
            <a:ext cx="548640" cy="254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07627" y="4754880"/>
            <a:ext cx="2468880" cy="9144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ctr"/>
            <a:r>
              <a:rPr sz="1400" b="0" i="0">
                <a:solidFill>
                  <a:srgbClr val="1F2937"/>
                </a:solidFill>
                <a:latin typeface="Inter"/>
              </a:rPr>
              <a:t>Support when it's needed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900" b="1" i="0">
                <a:solidFill>
                  <a:srgbClr val="0284C7"/>
                </a:solidFill>
                <a:latin typeface="Space Grotesk"/>
              </a:rPr>
              <a:t>Booming Venture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565392"/>
            <a:ext cx="1828800" cy="2286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Inter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36576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400" b="1" i="0">
                <a:solidFill>
                  <a:srgbClr val="14B8A6"/>
                </a:solidFill>
                <a:latin typeface="Space Grotesk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13716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4400" b="1" i="0">
                <a:solidFill>
                  <a:srgbClr val="0C1A2E"/>
                </a:solidFill>
                <a:latin typeface="Space Grotesk"/>
              </a:rPr>
              <a:t>Section 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Inter"/>
              </a:rPr>
              <a:t>Short framing sentence that primes the audience for what follows.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900" b="1" i="0">
                <a:solidFill>
                  <a:srgbClr val="0284C7"/>
                </a:solidFill>
                <a:latin typeface="Space Grotesk"/>
              </a:rPr>
              <a:t>Booming Venture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65392"/>
            <a:ext cx="1828800" cy="2286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Inter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548640" cy="4445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9144000" cy="73152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3200" b="1" i="0">
                <a:solidFill>
                  <a:srgbClr val="0C1A2E"/>
                </a:solidFill>
                <a:latin typeface="Space Grotesk"/>
              </a:rPr>
              <a:t>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058400" cy="36576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  <a:latin typeface="Inter"/>
              </a:rPr>
              <a:t>Short supporting sentence under the title.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 marL="342900" indent="-342900">
              <a:buChar char="✓"/>
              <a:spcAft>
                <a:spcPts val="800"/>
              </a:spcAft>
              <a:buClr>
                <a:srgbClr val="0284C7"/>
              </a:buClr>
            </a:pPr>
            <a:r>
              <a:rPr sz="1800">
                <a:solidFill>
                  <a:srgbClr val="1F2937"/>
                </a:solidFill>
                <a:latin typeface="Inter"/>
              </a:rPr>
              <a:t>Headline statement that owns the point</a:t>
            </a:r>
          </a:p>
          <a:p>
            <a:pPr algn="l" marL="342900" indent="-342900">
              <a:buChar char="✓"/>
              <a:spcAft>
                <a:spcPts val="800"/>
              </a:spcAft>
              <a:buClr>
                <a:srgbClr val="0284C7"/>
              </a:buClr>
            </a:pPr>
            <a:r>
              <a:rPr sz="1800">
                <a:solidFill>
                  <a:srgbClr val="1F2937"/>
                </a:solidFill>
                <a:latin typeface="Inter"/>
              </a:rPr>
              <a:t>Secondary supporting evidence with a number</a:t>
            </a:r>
          </a:p>
          <a:p>
            <a:pPr algn="l" marL="342900" indent="-342900">
              <a:buChar char="✓"/>
              <a:spcAft>
                <a:spcPts val="800"/>
              </a:spcAft>
              <a:buClr>
                <a:srgbClr val="0284C7"/>
              </a:buClr>
            </a:pPr>
            <a:r>
              <a:rPr sz="1800">
                <a:solidFill>
                  <a:srgbClr val="1F2937"/>
                </a:solidFill>
                <a:latin typeface="Inter"/>
              </a:rPr>
              <a:t>Third point that earns its space</a:t>
            </a:r>
          </a:p>
          <a:p>
            <a:pPr algn="l" marL="342900" indent="-342900">
              <a:buChar char="✓"/>
              <a:spcAft>
                <a:spcPts val="800"/>
              </a:spcAft>
              <a:buClr>
                <a:srgbClr val="0284C7"/>
              </a:buClr>
            </a:pPr>
            <a:r>
              <a:rPr sz="1800">
                <a:solidFill>
                  <a:srgbClr val="1F2937"/>
                </a:solidFill>
                <a:latin typeface="Inter"/>
              </a:rPr>
              <a:t>Fourth point only if it survives the cut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900" b="1" i="0">
                <a:solidFill>
                  <a:srgbClr val="0284C7"/>
                </a:solidFill>
                <a:latin typeface="Space Grotesk"/>
              </a:rPr>
              <a:t>Booming Venture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65392"/>
            <a:ext cx="1828800" cy="2286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Inter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6400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ctr"/>
            <a:r>
              <a:rPr sz="3200" b="1" i="0">
                <a:solidFill>
                  <a:srgbClr val="0C1A2E"/>
                </a:solidFill>
                <a:latin typeface="Space Grotesk"/>
              </a:rPr>
              <a:t>Our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4572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Inter"/>
              </a:rPr>
              <a:t>Comprehensive solutions designed to help your business thrive.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447" y="2194560"/>
            <a:ext cx="260604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3767" y="24688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3767" y="2468880"/>
            <a:ext cx="502920" cy="502920"/>
          </a:xfrm>
          <a:prstGeom prst="rect">
            <a:avLst/>
          </a:prstGeom>
          <a:noFill/>
        </p:spPr>
        <p:txBody>
          <a:bodyPr wrap="square" tIns="25400" bIns="25400" lIns="25400" rIns="25400" anchor="ctr">
            <a:spAutoFit/>
          </a:bodyPr>
          <a:lstStyle/>
          <a:p>
            <a:pPr algn="ctr"/>
            <a:r>
              <a:rPr sz="1400" b="1" i="0">
                <a:solidFill>
                  <a:srgbClr val="0284C7"/>
                </a:solidFill>
                <a:latin typeface="Space Grotesk"/>
              </a:rPr>
              <a:t>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047" y="3154680"/>
            <a:ext cx="2148840" cy="6400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500" b="1" i="0">
                <a:solidFill>
                  <a:srgbClr val="0C1A2E"/>
                </a:solidFill>
                <a:latin typeface="Space Grotesk"/>
              </a:rPr>
              <a:t>Strategic Consulting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047" y="3703320"/>
            <a:ext cx="2148840" cy="128016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Inter"/>
              </a:rPr>
              <a:t>Tailored growth strategies to help your business reach its full potential.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047" y="4937760"/>
            <a:ext cx="2148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 marL="342900" indent="-342900">
              <a:buChar char="✓"/>
              <a:spcAft>
                <a:spcPts val="800"/>
              </a:spcAft>
              <a:buClr>
                <a:srgbClr val="14B8A6"/>
              </a:buClr>
            </a:pPr>
            <a:r>
              <a:rPr sz="1000">
                <a:solidFill>
                  <a:srgbClr val="1F2937"/>
                </a:solidFill>
                <a:latin typeface="Inter"/>
              </a:rPr>
              <a:t>Custom growth plan</a:t>
            </a:r>
          </a:p>
          <a:p>
            <a:pPr algn="l" marL="342900" indent="-342900">
              <a:buChar char="✓"/>
              <a:spcAft>
                <a:spcPts val="800"/>
              </a:spcAft>
              <a:buClr>
                <a:srgbClr val="14B8A6"/>
              </a:buClr>
            </a:pPr>
            <a:r>
              <a:rPr sz="1000">
                <a:solidFill>
                  <a:srgbClr val="1F2937"/>
                </a:solidFill>
                <a:latin typeface="Inter"/>
              </a:rPr>
              <a:t>Market analysis</a:t>
            </a:r>
          </a:p>
          <a:p>
            <a:pPr algn="l" marL="342900" indent="-342900">
              <a:buChar char="✓"/>
              <a:spcAft>
                <a:spcPts val="800"/>
              </a:spcAft>
              <a:buClr>
                <a:srgbClr val="14B8A6"/>
              </a:buClr>
            </a:pPr>
            <a:r>
              <a:rPr sz="1000">
                <a:solidFill>
                  <a:srgbClr val="1F2937"/>
                </a:solidFill>
                <a:latin typeface="Inter"/>
              </a:rPr>
              <a:t>Revenue strategy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8367" y="2194560"/>
            <a:ext cx="260604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72687" y="24688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2687" y="2468880"/>
            <a:ext cx="502920" cy="502920"/>
          </a:xfrm>
          <a:prstGeom prst="rect">
            <a:avLst/>
          </a:prstGeom>
          <a:noFill/>
        </p:spPr>
        <p:txBody>
          <a:bodyPr wrap="square" tIns="25400" bIns="25400" lIns="25400" rIns="25400" anchor="ctr">
            <a:spAutoFit/>
          </a:bodyPr>
          <a:lstStyle/>
          <a:p>
            <a:pPr algn="ctr"/>
            <a:r>
              <a:rPr sz="1400" b="1" i="0">
                <a:solidFill>
                  <a:srgbClr val="0284C7"/>
                </a:solidFill>
                <a:latin typeface="Space Grotesk"/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6967" y="3154680"/>
            <a:ext cx="2148840" cy="6400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500" b="1" i="0">
                <a:solidFill>
                  <a:srgbClr val="0C1A2E"/>
                </a:solidFill>
                <a:latin typeface="Space Grotesk"/>
              </a:rPr>
              <a:t>Performance Marketing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6967" y="3703320"/>
            <a:ext cx="2148840" cy="128016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Inter"/>
              </a:rPr>
              <a:t>Data-driven marketing campaigns that deliver measurable results.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6967" y="4937760"/>
            <a:ext cx="2148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 marL="342900" indent="-342900">
              <a:buChar char="✓"/>
              <a:spcAft>
                <a:spcPts val="800"/>
              </a:spcAft>
              <a:buClr>
                <a:srgbClr val="14B8A6"/>
              </a:buClr>
            </a:pPr>
            <a:r>
              <a:rPr sz="1000">
                <a:solidFill>
                  <a:srgbClr val="1F2937"/>
                </a:solidFill>
                <a:latin typeface="Inter"/>
              </a:rPr>
              <a:t>Custom growth plan</a:t>
            </a:r>
          </a:p>
          <a:p>
            <a:pPr algn="l" marL="342900" indent="-342900">
              <a:buChar char="✓"/>
              <a:spcAft>
                <a:spcPts val="800"/>
              </a:spcAft>
              <a:buClr>
                <a:srgbClr val="14B8A6"/>
              </a:buClr>
            </a:pPr>
            <a:r>
              <a:rPr sz="1000">
                <a:solidFill>
                  <a:srgbClr val="1F2937"/>
                </a:solidFill>
                <a:latin typeface="Inter"/>
              </a:rPr>
              <a:t>Market analysis</a:t>
            </a:r>
          </a:p>
          <a:p>
            <a:pPr algn="l" marL="342900" indent="-342900">
              <a:buChar char="✓"/>
              <a:spcAft>
                <a:spcPts val="800"/>
              </a:spcAft>
              <a:buClr>
                <a:srgbClr val="14B8A6"/>
              </a:buClr>
            </a:pPr>
            <a:r>
              <a:rPr sz="1000">
                <a:solidFill>
                  <a:srgbClr val="1F2937"/>
                </a:solidFill>
                <a:latin typeface="Inter"/>
              </a:rPr>
              <a:t>Revenue strategy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7287" y="2194560"/>
            <a:ext cx="260604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61607" y="24688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1607" y="2468880"/>
            <a:ext cx="502920" cy="502920"/>
          </a:xfrm>
          <a:prstGeom prst="rect">
            <a:avLst/>
          </a:prstGeom>
          <a:noFill/>
        </p:spPr>
        <p:txBody>
          <a:bodyPr wrap="square" tIns="25400" bIns="25400" lIns="25400" rIns="25400" anchor="ctr">
            <a:spAutoFit/>
          </a:bodyPr>
          <a:lstStyle/>
          <a:p>
            <a:pPr algn="ctr"/>
            <a:r>
              <a:rPr sz="1400" b="1" i="0">
                <a:solidFill>
                  <a:srgbClr val="0284C7"/>
                </a:solidFill>
                <a:latin typeface="Space Grotesk"/>
              </a:rPr>
              <a:t>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5887" y="3154680"/>
            <a:ext cx="2148840" cy="6400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500" b="1" i="0">
                <a:solidFill>
                  <a:srgbClr val="0C1A2E"/>
                </a:solidFill>
                <a:latin typeface="Space Grotesk"/>
              </a:rPr>
              <a:t>AI-Powered Solutions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5887" y="3703320"/>
            <a:ext cx="2148840" cy="128016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Inter"/>
              </a:rPr>
              <a:t>Cutting-edge AI technology to optimize your business operations.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5887" y="4937760"/>
            <a:ext cx="2148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 marL="342900" indent="-342900">
              <a:buChar char="✓"/>
              <a:spcAft>
                <a:spcPts val="800"/>
              </a:spcAft>
              <a:buClr>
                <a:srgbClr val="14B8A6"/>
              </a:buClr>
            </a:pPr>
            <a:r>
              <a:rPr sz="1000">
                <a:solidFill>
                  <a:srgbClr val="1F2937"/>
                </a:solidFill>
                <a:latin typeface="Inter"/>
              </a:rPr>
              <a:t>Custom growth plan</a:t>
            </a:r>
          </a:p>
          <a:p>
            <a:pPr algn="l" marL="342900" indent="-342900">
              <a:buChar char="✓"/>
              <a:spcAft>
                <a:spcPts val="800"/>
              </a:spcAft>
              <a:buClr>
                <a:srgbClr val="14B8A6"/>
              </a:buClr>
            </a:pPr>
            <a:r>
              <a:rPr sz="1000">
                <a:solidFill>
                  <a:srgbClr val="1F2937"/>
                </a:solidFill>
                <a:latin typeface="Inter"/>
              </a:rPr>
              <a:t>Market analysis</a:t>
            </a:r>
          </a:p>
          <a:p>
            <a:pPr algn="l" marL="342900" indent="-342900">
              <a:buChar char="✓"/>
              <a:spcAft>
                <a:spcPts val="800"/>
              </a:spcAft>
              <a:buClr>
                <a:srgbClr val="14B8A6"/>
              </a:buClr>
            </a:pPr>
            <a:r>
              <a:rPr sz="1000">
                <a:solidFill>
                  <a:srgbClr val="1F2937"/>
                </a:solidFill>
                <a:latin typeface="Inter"/>
              </a:rPr>
              <a:t>Revenue strategy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76207" y="2194560"/>
            <a:ext cx="260604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50527" y="24688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50527" y="2468880"/>
            <a:ext cx="502920" cy="502920"/>
          </a:xfrm>
          <a:prstGeom prst="rect">
            <a:avLst/>
          </a:prstGeom>
          <a:noFill/>
        </p:spPr>
        <p:txBody>
          <a:bodyPr wrap="square" tIns="25400" bIns="25400" lIns="25400" rIns="25400" anchor="ctr">
            <a:spAutoFit/>
          </a:bodyPr>
          <a:lstStyle/>
          <a:p>
            <a:pPr algn="ctr"/>
            <a:r>
              <a:rPr sz="1400" b="1" i="0">
                <a:solidFill>
                  <a:srgbClr val="0284C7"/>
                </a:solidFill>
                <a:latin typeface="Space Grotesk"/>
              </a:rPr>
              <a:t>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4807" y="3154680"/>
            <a:ext cx="2148840" cy="6400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500" b="1" i="0">
                <a:solidFill>
                  <a:srgbClr val="0C1A2E"/>
                </a:solidFill>
                <a:latin typeface="Space Grotesk"/>
              </a:rPr>
              <a:t>Growth Optimization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4807" y="3703320"/>
            <a:ext cx="2148840" cy="128016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Inter"/>
              </a:rPr>
              <a:t>Programs that scale your business efficiently and sustainably.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4807" y="4937760"/>
            <a:ext cx="2148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 marL="342900" indent="-342900">
              <a:buChar char="✓"/>
              <a:spcAft>
                <a:spcPts val="800"/>
              </a:spcAft>
              <a:buClr>
                <a:srgbClr val="14B8A6"/>
              </a:buClr>
            </a:pPr>
            <a:r>
              <a:rPr sz="1000">
                <a:solidFill>
                  <a:srgbClr val="1F2937"/>
                </a:solidFill>
                <a:latin typeface="Inter"/>
              </a:rPr>
              <a:t>Custom growth plan</a:t>
            </a:r>
          </a:p>
          <a:p>
            <a:pPr algn="l" marL="342900" indent="-342900">
              <a:buChar char="✓"/>
              <a:spcAft>
                <a:spcPts val="800"/>
              </a:spcAft>
              <a:buClr>
                <a:srgbClr val="14B8A6"/>
              </a:buClr>
            </a:pPr>
            <a:r>
              <a:rPr sz="1000">
                <a:solidFill>
                  <a:srgbClr val="1F2937"/>
                </a:solidFill>
                <a:latin typeface="Inter"/>
              </a:rPr>
              <a:t>Market analysis</a:t>
            </a:r>
          </a:p>
          <a:p>
            <a:pPr algn="l" marL="342900" indent="-342900">
              <a:buChar char="✓"/>
              <a:spcAft>
                <a:spcPts val="800"/>
              </a:spcAft>
              <a:buClr>
                <a:srgbClr val="14B8A6"/>
              </a:buClr>
            </a:pPr>
            <a:r>
              <a:rPr sz="1000">
                <a:solidFill>
                  <a:srgbClr val="1F2937"/>
                </a:solidFill>
                <a:latin typeface="Inter"/>
              </a:rPr>
              <a:t>Revenue strategy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900" b="1" i="0">
                <a:solidFill>
                  <a:srgbClr val="0284C7"/>
                </a:solidFill>
                <a:latin typeface="Space Grotesk"/>
              </a:rPr>
              <a:t>Booming Venture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565392"/>
            <a:ext cx="1828800" cy="2286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Inter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777240"/>
            <a:ext cx="548640" cy="4445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6400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3200" b="1" i="0">
                <a:solidFill>
                  <a:srgbClr val="0C1A2E"/>
                </a:solidFill>
                <a:latin typeface="Space Grotesk"/>
              </a:rPr>
              <a:t>What you 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36576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Inter"/>
              </a:rPr>
              <a:t>Four named deliverables, every engagement.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6888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34440" y="283464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834640"/>
            <a:ext cx="502920" cy="502920"/>
          </a:xfrm>
          <a:prstGeom prst="rect">
            <a:avLst/>
          </a:prstGeom>
          <a:noFill/>
        </p:spPr>
        <p:txBody>
          <a:bodyPr wrap="square" tIns="25400" bIns="25400" lIns="25400" rIns="254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pace Grotesk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834640"/>
            <a:ext cx="3931920" cy="4572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800" b="1" i="0">
                <a:solidFill>
                  <a:srgbClr val="0C1A2E"/>
                </a:solidFill>
                <a:latin typeface="Space Grotesk"/>
              </a:rPr>
              <a:t>Growth Frameworks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337560"/>
            <a:ext cx="3931920" cy="82296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Inter"/>
              </a:rPr>
              <a:t>Proven methodologies for sustainable growth.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46888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29400" y="283464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834640"/>
            <a:ext cx="502920" cy="502920"/>
          </a:xfrm>
          <a:prstGeom prst="rect">
            <a:avLst/>
          </a:prstGeom>
          <a:noFill/>
        </p:spPr>
        <p:txBody>
          <a:bodyPr wrap="square" tIns="25400" bIns="25400" lIns="25400" rIns="254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pace Grotesk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834640"/>
            <a:ext cx="3931920" cy="4572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800" b="1" i="0">
                <a:solidFill>
                  <a:srgbClr val="0C1A2E"/>
                </a:solidFill>
                <a:latin typeface="Space Grotesk"/>
              </a:rPr>
              <a:t>ROI Templates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337560"/>
            <a:ext cx="3931920" cy="82296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Inter"/>
              </a:rPr>
              <a:t>Calculate and track your marketing ROI.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57200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234440" y="493776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4937760"/>
            <a:ext cx="502920" cy="502920"/>
          </a:xfrm>
          <a:prstGeom prst="rect">
            <a:avLst/>
          </a:prstGeom>
          <a:noFill/>
        </p:spPr>
        <p:txBody>
          <a:bodyPr wrap="square" tIns="25400" bIns="25400" lIns="25400" rIns="254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pace Grotesk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937760"/>
            <a:ext cx="3931920" cy="4572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800" b="1" i="0">
                <a:solidFill>
                  <a:srgbClr val="0C1A2E"/>
                </a:solidFill>
                <a:latin typeface="Space Grotesk"/>
              </a:rPr>
              <a:t>AI Implementation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5440680"/>
            <a:ext cx="3931920" cy="82296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Inter"/>
              </a:rPr>
              <a:t>Step-by-step AI integration guide.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57200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29400" y="493776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937760"/>
            <a:ext cx="502920" cy="502920"/>
          </a:xfrm>
          <a:prstGeom prst="rect">
            <a:avLst/>
          </a:prstGeom>
          <a:noFill/>
        </p:spPr>
        <p:txBody>
          <a:bodyPr wrap="square" tIns="25400" bIns="25400" lIns="25400" rIns="254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pace Grotesk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937760"/>
            <a:ext cx="3931920" cy="4572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800" b="1" i="0">
                <a:solidFill>
                  <a:srgbClr val="0C1A2E"/>
                </a:solidFill>
                <a:latin typeface="Space Grotesk"/>
              </a:rPr>
              <a:t>Case Studies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5440680"/>
            <a:ext cx="3931920" cy="82296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Inter"/>
              </a:rPr>
              <a:t>Real examples from successful clients.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900" b="1" i="0">
                <a:solidFill>
                  <a:srgbClr val="0284C7"/>
                </a:solidFill>
                <a:latin typeface="Space Grotesk"/>
              </a:rPr>
              <a:t>Booming Venture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565392"/>
            <a:ext cx="1828800" cy="2286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Inter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5303520" cy="5577840"/>
          </a:xfrm>
          <a:prstGeom prst="roundRect">
            <a:avLst>
              <a:gd name="adj" fmla="val 3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1005840"/>
            <a:ext cx="548640" cy="4445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143000"/>
            <a:ext cx="4572000" cy="54864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2200" b="1" i="0">
                <a:solidFill>
                  <a:srgbClr val="0C1A2E"/>
                </a:solidFill>
                <a:latin typeface="Space Grotesk"/>
              </a:rPr>
              <a:t>Our 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128016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Inter"/>
              </a:rPr>
              <a:t>Based from Rotterdam, The Netherlands, we are committed to empowering businesses with innovative marketing strategies and AI-driven solutions that drive sustainable growth.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83280"/>
            <a:ext cx="4572000" cy="4572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2200" b="1" i="0">
                <a:solidFill>
                  <a:srgbClr val="0C1A2E"/>
                </a:solidFill>
                <a:latin typeface="Space Grotesk"/>
              </a:rPr>
              <a:t>Our Values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9319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 marL="342900" indent="-342900">
              <a:buChar char="✓"/>
              <a:spcAft>
                <a:spcPts val="800"/>
              </a:spcAft>
              <a:buClr>
                <a:srgbClr val="0284C7"/>
              </a:buClr>
            </a:pPr>
            <a:r>
              <a:rPr sz="1300">
                <a:solidFill>
                  <a:srgbClr val="1F2937"/>
                </a:solidFill>
                <a:latin typeface="Inter"/>
              </a:rPr>
              <a:t>Innovation at the core of everything we do</a:t>
            </a:r>
          </a:p>
          <a:p>
            <a:pPr algn="l" marL="342900" indent="-342900">
              <a:buChar char="✓"/>
              <a:spcAft>
                <a:spcPts val="800"/>
              </a:spcAft>
              <a:buClr>
                <a:srgbClr val="0284C7"/>
              </a:buClr>
            </a:pPr>
            <a:r>
              <a:rPr sz="1300">
                <a:solidFill>
                  <a:srgbClr val="1F2937"/>
                </a:solidFill>
                <a:latin typeface="Inter"/>
              </a:rPr>
              <a:t>Results-oriented approach to business growth</a:t>
            </a:r>
          </a:p>
          <a:p>
            <a:pPr algn="l" marL="342900" indent="-342900">
              <a:buChar char="✓"/>
              <a:spcAft>
                <a:spcPts val="800"/>
              </a:spcAft>
              <a:buClr>
                <a:srgbClr val="0284C7"/>
              </a:buClr>
            </a:pPr>
            <a:r>
              <a:rPr sz="1300">
                <a:solidFill>
                  <a:srgbClr val="1F2937"/>
                </a:solidFill>
                <a:latin typeface="Inter"/>
              </a:rPr>
              <a:t>Transparency and integrity in all partnerships</a:t>
            </a:r>
          </a:p>
          <a:p>
            <a:pPr algn="l" marL="342900" indent="-342900">
              <a:buChar char="✓"/>
              <a:spcAft>
                <a:spcPts val="800"/>
              </a:spcAft>
              <a:buClr>
                <a:srgbClr val="0284C7"/>
              </a:buClr>
            </a:pPr>
            <a:r>
              <a:rPr sz="1300">
                <a:solidFill>
                  <a:srgbClr val="1F2937"/>
                </a:solidFill>
                <a:latin typeface="Inter"/>
              </a:rPr>
              <a:t>Continuous learning and improvement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777240"/>
            <a:ext cx="5029200" cy="6400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2200" b="1" i="0">
                <a:solidFill>
                  <a:srgbClr val="0C1A2E"/>
                </a:solidFill>
                <a:latin typeface="Space Grotesk"/>
              </a:rPr>
              <a:t>Why Choose Booming Venture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029200" cy="4572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Inter"/>
              </a:rPr>
              <a:t>Strategic thinking + cutting-edge technology.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03120"/>
            <a:ext cx="2468880" cy="1874519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331720"/>
            <a:ext cx="2103120" cy="36576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400" b="1" i="0">
                <a:solidFill>
                  <a:srgbClr val="0284C7"/>
                </a:solidFill>
                <a:latin typeface="Space Grotesk"/>
              </a:rPr>
              <a:t>Expertise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88920"/>
            <a:ext cx="2103120" cy="10972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Inter"/>
              </a:rPr>
              <a:t>Decades of combined experience in business growth, marketing, and AI.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2103120"/>
            <a:ext cx="2468880" cy="1874519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2331720"/>
            <a:ext cx="2103120" cy="36576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400" b="1" i="0">
                <a:solidFill>
                  <a:srgbClr val="0284C7"/>
                </a:solidFill>
                <a:latin typeface="Space Grotesk"/>
              </a:rPr>
              <a:t>Personalization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2788920"/>
            <a:ext cx="2103120" cy="10972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Inter"/>
              </a:rPr>
              <a:t>We create custom strategies tailored to your specific business goals.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114799"/>
            <a:ext cx="2468880" cy="1874519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4343399"/>
            <a:ext cx="2103120" cy="36576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400" b="1" i="0">
                <a:solidFill>
                  <a:srgbClr val="0284C7"/>
                </a:solidFill>
                <a:latin typeface="Space Grotesk"/>
              </a:rPr>
              <a:t>AI Technology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800599"/>
            <a:ext cx="2103120" cy="10972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Inter"/>
              </a:rPr>
              <a:t>Leverage advanced AI and data analytics to make informed decisions.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4114799"/>
            <a:ext cx="2468880" cy="1874519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4343399"/>
            <a:ext cx="2103120" cy="36576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400" b="1" i="0">
                <a:solidFill>
                  <a:srgbClr val="0284C7"/>
                </a:solidFill>
                <a:latin typeface="Space Grotesk"/>
              </a:rPr>
              <a:t>Proven 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4800599"/>
            <a:ext cx="2103120" cy="10972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Inter"/>
              </a:rPr>
              <a:t>We focus on delivering measurable outcomes with clear KPIs.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900" b="1" i="0">
                <a:solidFill>
                  <a:srgbClr val="0284C7"/>
                </a:solidFill>
                <a:latin typeface="Space Grotesk"/>
              </a:rPr>
              <a:t>Booming Venture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565392"/>
            <a:ext cx="1828800" cy="2286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Inter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65760" y="365760"/>
            <a:ext cx="1097280" cy="1828800"/>
          </a:xfrm>
          <a:prstGeom prst="line">
            <a:avLst/>
          </a:prstGeom>
          <a:ln w="762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14400" y="365760"/>
            <a:ext cx="1097279" cy="1828800"/>
          </a:xfrm>
          <a:prstGeom prst="line">
            <a:avLst/>
          </a:prstGeom>
          <a:ln w="762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463040" y="365760"/>
            <a:ext cx="1097280" cy="1828800"/>
          </a:xfrm>
          <a:prstGeom prst="line">
            <a:avLst/>
          </a:prstGeom>
          <a:ln w="762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11679" y="365760"/>
            <a:ext cx="1097281" cy="1828800"/>
          </a:xfrm>
          <a:prstGeom prst="line">
            <a:avLst/>
          </a:prstGeom>
          <a:ln w="762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60320" y="365760"/>
            <a:ext cx="1097279" cy="1828800"/>
          </a:xfrm>
          <a:prstGeom prst="line">
            <a:avLst/>
          </a:prstGeom>
          <a:ln w="762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914400"/>
            <a:ext cx="10058400" cy="4572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Space Grotesk"/>
              </a:rPr>
              <a:t>THE NUMBER THAT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10058400" cy="256032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7000" b="1" i="0">
                <a:solidFill>
                  <a:srgbClr val="FFFFFF"/>
                </a:solidFill>
                <a:latin typeface="Space Grotesk"/>
              </a:rPr>
              <a:t>527%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297680"/>
            <a:ext cx="548640" cy="50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34840"/>
            <a:ext cx="10058400" cy="6400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Space Grotesk"/>
              </a:rPr>
              <a:t>Year-over-year growth in AI-referred sessions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Inter"/>
              </a:rPr>
              <a:t>Source: Frase, January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900" b="1" i="0">
                <a:solidFill>
                  <a:srgbClr val="0284C7"/>
                </a:solidFill>
                <a:latin typeface="Space Grotesk"/>
              </a:rPr>
              <a:t>Booming Venture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65392"/>
            <a:ext cx="1828800" cy="2286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Inter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058400" cy="6400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ctr"/>
            <a:r>
              <a:rPr sz="2800" b="1" i="0">
                <a:solidFill>
                  <a:srgbClr val="0C1A2E"/>
                </a:solidFill>
                <a:latin typeface="Space Grotesk"/>
              </a:rPr>
              <a:t>Client Success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Inter"/>
              </a:rPr>
              <a:t>Hear from businesses we've helped scale.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2194560"/>
            <a:ext cx="9784080" cy="3840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1828800" cy="18288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4000" b="1" i="0">
                <a:solidFill>
                  <a:srgbClr val="7DD3FC"/>
                </a:solidFill>
                <a:latin typeface="Space Grotesk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926080"/>
            <a:ext cx="6583680" cy="18288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2000" b="1" i="1">
                <a:solidFill>
                  <a:srgbClr val="0C1A2E"/>
                </a:solidFill>
                <a:latin typeface="Space Grotesk"/>
              </a:rPr>
              <a:t>Booming Venture transformed our marketing strategy completely. Their AI-driven approach increased our conversion rates by 42% in just three months.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4983480"/>
            <a:ext cx="4572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5120640"/>
            <a:ext cx="6583680" cy="36576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Inter"/>
              </a:rPr>
              <a:t>Sarah Johnson  ,  CEO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5440680"/>
            <a:ext cx="6583680" cy="36576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Inter"/>
              </a:rPr>
              <a:t>Strategic Partnership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900" b="1" i="0">
                <a:solidFill>
                  <a:srgbClr val="0284C7"/>
                </a:solidFill>
                <a:latin typeface="Space Grotesk"/>
              </a:rPr>
              <a:t>Booming Venture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565392"/>
            <a:ext cx="1828800" cy="2286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Inter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548640" cy="4445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058400" cy="6400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3200" b="1" i="0">
                <a:solidFill>
                  <a:srgbClr val="0C1A2E"/>
                </a:solidFill>
                <a:latin typeface="Space Grotesk"/>
              </a:rPr>
              <a:t>Three numbers that frame the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36576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  <a:latin typeface="Inter"/>
              </a:rPr>
              <a:t>Each card is a self-contained passage.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651760"/>
            <a:ext cx="3383280" cy="329184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651760"/>
            <a:ext cx="3383280" cy="73152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017520"/>
            <a:ext cx="2926080" cy="128016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5600" b="1" i="0">
                <a:solidFill>
                  <a:srgbClr val="0369A1"/>
                </a:solidFill>
                <a:latin typeface="Space Grotesk"/>
              </a:rPr>
              <a:t>41%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389120"/>
            <a:ext cx="2926080" cy="9144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500" b="1" i="0">
                <a:solidFill>
                  <a:srgbClr val="0C1A2E"/>
                </a:solidFill>
                <a:latin typeface="Inter"/>
              </a:rPr>
              <a:t>AI visibility lift from statistics-addition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394960"/>
            <a:ext cx="2926080" cy="36576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Inter"/>
              </a:rPr>
              <a:t>Princeton GEO study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651760"/>
            <a:ext cx="3383280" cy="329184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2651760"/>
            <a:ext cx="3383280" cy="73152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3017520"/>
            <a:ext cx="2926080" cy="128016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5600" b="1" i="0">
                <a:solidFill>
                  <a:srgbClr val="0369A1"/>
                </a:solidFill>
                <a:latin typeface="Space Grotesk"/>
              </a:rPr>
              <a:t>44.2%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4389120"/>
            <a:ext cx="2926080" cy="9144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500" b="1" i="0">
                <a:solidFill>
                  <a:srgbClr val="0C1A2E"/>
                </a:solidFill>
                <a:latin typeface="Inter"/>
              </a:rPr>
              <a:t>Of AI citations land in the first 30% of body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5394960"/>
            <a:ext cx="2926080" cy="36576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Inter"/>
              </a:rPr>
              <a:t>Kevin Indig, 1.2M answers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651760"/>
            <a:ext cx="3383280" cy="329184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2651760"/>
            <a:ext cx="3383280" cy="73152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3017520"/>
            <a:ext cx="2926080" cy="128016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5600" b="1" i="0">
                <a:solidFill>
                  <a:srgbClr val="0369A1"/>
                </a:solidFill>
                <a:latin typeface="Space Grotesk"/>
              </a:rPr>
              <a:t>3.49%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389120"/>
            <a:ext cx="2926080" cy="9144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500" b="1" i="0">
                <a:solidFill>
                  <a:srgbClr val="0C1A2E"/>
                </a:solidFill>
                <a:latin typeface="Inter"/>
              </a:rPr>
              <a:t>Conversion from AI-search referrals (22% higher than organic)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5394960"/>
            <a:ext cx="2926080" cy="36576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Inter"/>
              </a:rPr>
              <a:t>Martal 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900" b="1" i="0">
                <a:solidFill>
                  <a:srgbClr val="0284C7"/>
                </a:solidFill>
                <a:latin typeface="Space Grotesk"/>
              </a:rPr>
              <a:t>Booming Venture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565392"/>
            <a:ext cx="1828800" cy="2286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Inter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6400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ctr"/>
            <a:r>
              <a:rPr sz="3200" b="1" i="0">
                <a:solidFill>
                  <a:srgbClr val="0C1A2E"/>
                </a:solidFill>
                <a:latin typeface="Space Grotesk"/>
              </a:rPr>
              <a:t>Get In Touch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ctr"/>
            <a:r>
              <a:rPr sz="1500" b="0" i="0">
                <a:solidFill>
                  <a:srgbClr val="64748B"/>
                </a:solidFill>
                <a:latin typeface="Inter"/>
              </a:rPr>
              <a:t>Contact us today for a free consultation.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50292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468880"/>
            <a:ext cx="4572000" cy="4572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800" b="1" i="0">
                <a:solidFill>
                  <a:srgbClr val="0C1A2E"/>
                </a:solidFill>
                <a:latin typeface="Space Grotesk"/>
              </a:rPr>
              <a:t>Contact Information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017520"/>
            <a:ext cx="4572000" cy="36576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200" b="1" i="0">
                <a:solidFill>
                  <a:srgbClr val="0284C7"/>
                </a:solidFill>
                <a:latin typeface="Space Grotesk"/>
              </a:rPr>
              <a:t>Email 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337560"/>
            <a:ext cx="4572000" cy="36576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Inter"/>
              </a:rPr>
              <a:t>info@boomingventure.com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840480"/>
            <a:ext cx="4572000" cy="36576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200" b="1" i="0">
                <a:solidFill>
                  <a:srgbClr val="0284C7"/>
                </a:solidFill>
                <a:latin typeface="Space Grotesk"/>
              </a:rPr>
              <a:t>Visit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160520"/>
            <a:ext cx="4572000" cy="54864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Inter"/>
              </a:rPr>
              <a:t>Westvlietweg 1
3055 PG Rotterdam, The Netherlands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521208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5212080"/>
            <a:ext cx="1828800" cy="502920"/>
          </a:xfrm>
          <a:prstGeom prst="rect">
            <a:avLst/>
          </a:prstGeom>
          <a:noFill/>
        </p:spPr>
        <p:txBody>
          <a:bodyPr wrap="square" tIns="25400" bIns="25400" lIns="25400" r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pace Grotesk"/>
              </a:rPr>
              <a:t>Email Us Directly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286000"/>
            <a:ext cx="50292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68880"/>
            <a:ext cx="4572000" cy="4572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800" b="1" i="0">
                <a:solidFill>
                  <a:srgbClr val="0C1A2E"/>
                </a:solidFill>
                <a:latin typeface="Space Grotesk"/>
              </a:rPr>
              <a:t>Send Us a Message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017520"/>
            <a:ext cx="2286000" cy="27432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Inter"/>
              </a:rPr>
              <a:t>Your Name *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329184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F0F9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3291840"/>
            <a:ext cx="2286000" cy="365760"/>
          </a:xfrm>
          <a:prstGeom prst="rect">
            <a:avLst/>
          </a:prstGeom>
          <a:noFill/>
        </p:spPr>
        <p:txBody>
          <a:bodyPr wrap="square" tIns="25400" bIns="25400" lIns="25400" rIns="25400" anchor="ctr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Inter"/>
              </a:rPr>
              <a:t>John Doe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3017520"/>
            <a:ext cx="2286000" cy="27432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Inter"/>
              </a:rPr>
              <a:t>Email Address *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329184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F0F9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3291840"/>
            <a:ext cx="2286000" cy="365760"/>
          </a:xfrm>
          <a:prstGeom prst="rect">
            <a:avLst/>
          </a:prstGeom>
          <a:noFill/>
        </p:spPr>
        <p:txBody>
          <a:bodyPr wrap="square" tIns="25400" bIns="25400" lIns="25400" rIns="25400" anchor="ctr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Inter"/>
              </a:rPr>
              <a:t>john@example.com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840480"/>
            <a:ext cx="4572000" cy="27432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Inter"/>
              </a:rPr>
              <a:t>Your Message *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4114800"/>
            <a:ext cx="4709160" cy="1097280"/>
          </a:xfrm>
          <a:prstGeom prst="roundRect">
            <a:avLst>
              <a:gd name="adj" fmla="val 5000"/>
            </a:avLst>
          </a:prstGeom>
          <a:solidFill>
            <a:srgbClr val="F0F9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160520"/>
            <a:ext cx="4572000" cy="36576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Inter"/>
              </a:rPr>
              <a:t>How can we help you?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5349240"/>
            <a:ext cx="4709160" cy="50292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5349240"/>
            <a:ext cx="4709160" cy="502920"/>
          </a:xfrm>
          <a:prstGeom prst="rect">
            <a:avLst/>
          </a:prstGeom>
          <a:noFill/>
        </p:spPr>
        <p:txBody>
          <a:bodyPr wrap="square" tIns="25400" bIns="25400" lIns="25400" r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pace Grotesk"/>
              </a:rPr>
              <a:t>Send Message 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900" b="1" i="0">
                <a:solidFill>
                  <a:srgbClr val="0284C7"/>
                </a:solidFill>
                <a:latin typeface="Space Grotesk"/>
              </a:rPr>
              <a:t>Booming Venture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565392"/>
            <a:ext cx="1828800" cy="2286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Inter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8686800" y="365760"/>
            <a:ext cx="1097280" cy="2194560"/>
          </a:xfrm>
          <a:prstGeom prst="line">
            <a:avLst/>
          </a:prstGeom>
          <a:ln w="762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235440" y="365760"/>
            <a:ext cx="1097279" cy="2194560"/>
          </a:xfrm>
          <a:prstGeom prst="line">
            <a:avLst/>
          </a:prstGeom>
          <a:ln w="762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784080" y="365760"/>
            <a:ext cx="1097280" cy="2194560"/>
          </a:xfrm>
          <a:prstGeom prst="line">
            <a:avLst/>
          </a:prstGeom>
          <a:ln w="762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332719" y="365760"/>
            <a:ext cx="1097281" cy="2194560"/>
          </a:xfrm>
          <a:prstGeom prst="line">
            <a:avLst/>
          </a:prstGeom>
          <a:ln w="762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881360" y="365760"/>
            <a:ext cx="1097279" cy="2194560"/>
          </a:xfrm>
          <a:prstGeom prst="line">
            <a:avLst/>
          </a:prstGeom>
          <a:ln w="762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Space Grotesk"/>
              </a:rPr>
              <a:t>NEXT 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Space Grotesk"/>
              </a:rPr>
              <a:t>Let's plug the leaks in your funnel.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2000" b="0" i="0">
                <a:solidFill>
                  <a:srgbClr val="E2E8F0"/>
                </a:solidFill>
                <a:latin typeface="Inter"/>
              </a:rPr>
              <a:t>Book a free UNIFY audit. 30 minutes. No slide deck on our side.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120640"/>
            <a:ext cx="3200400" cy="64008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3200400" cy="640080"/>
          </a:xfrm>
          <a:prstGeom prst="rect">
            <a:avLst/>
          </a:prstGeom>
          <a:noFill/>
        </p:spPr>
        <p:txBody>
          <a:bodyPr wrap="square" tIns="25400" bIns="25400" lIns="25400" rIns="254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pace Grotesk"/>
              </a:rPr>
              <a:t>boomingventure.com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989320"/>
            <a:ext cx="10058400" cy="36576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Inter"/>
              </a:rPr>
              <a:t>info@boomingventure.com  |  Rotterdam, The Netherlands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oming Venture">
  <a:themeElements>
    <a:clrScheme name="Booming Venture">
      <a:dk1>
        <a:srgbClr val="0C1A2E"/>
      </a:dk1>
      <a:lt1>
        <a:srgbClr val="FFFFFF"/>
      </a:lt1>
      <a:dk2>
        <a:srgbClr val="1F2937"/>
      </a:dk2>
      <a:lt2>
        <a:srgbClr val="F8FAFC"/>
      </a:lt2>
      <a:accent1>
        <a:srgbClr val="0284C7"/>
      </a:accent1>
      <a:accent2>
        <a:srgbClr val="14B8A6"/>
      </a:accent2>
      <a:accent3>
        <a:srgbClr val="38BDF8"/>
      </a:accent3>
      <a:accent4>
        <a:srgbClr val="5EEAD4"/>
      </a:accent4>
      <a:accent5>
        <a:srgbClr val="7DD3FC"/>
      </a:accent5>
      <a:accent6>
        <a:srgbClr val="64748B"/>
      </a:accent6>
      <a:hlink>
        <a:srgbClr val="0284C7"/>
      </a:hlink>
      <a:folHlink>
        <a:srgbClr val="0369A1"/>
      </a:folHlink>
    </a:clrScheme>
    <a:fontScheme name="Booming Venture">
      <a:majorFont>
        <a:latin typeface="Space Grotesk"/>
        <a:ea typeface=""/>
        <a:cs typeface=""/>
      </a:majorFont>
      <a:minorFont>
        <a:latin typeface="Inter"/>
        <a:ea typeface=""/>
        <a:cs typeface=""/>
      </a:minorFont>
    </a:fontScheme>
    <a:fmtScheme name="Booming Ven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1905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