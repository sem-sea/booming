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754880"/>
            <a:ext cx="36576" cy="12801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731520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" b="1">
                <a:solidFill>
                  <a:srgbClr val="0284C7"/>
                </a:solidFill>
                <a:latin typeface="Space Grotesk"/>
              </a:rPr>
              <a:t>BOOMING VENTURE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Space Grotesk"/>
              </a:rPr>
              <a:t>Presentation title goes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2000" b="0">
                <a:solidFill>
                  <a:srgbClr val="E2E8F0"/>
                </a:solidFill>
                <a:latin typeface="Inter"/>
              </a:rPr>
              <a:t>Subtitle or value proposition in one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5486400" cy="27432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Inter"/>
              </a:rPr>
              <a:t>Presenter Name  | 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Space Grotesk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058400" cy="1371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4400" b="1">
                <a:solidFill>
                  <a:srgbClr val="0C1A2E"/>
                </a:solidFill>
                <a:latin typeface="Space Grotesk"/>
              </a:rPr>
              <a:t>Section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Inter"/>
              </a:rPr>
              <a:t>Short framing sentence that primes the audience for what follows.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36576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900" b="1">
                <a:solidFill>
                  <a:srgbClr val="0284C7"/>
                </a:solidFill>
                <a:latin typeface="Space Grotesk"/>
              </a:rPr>
              <a:t>Booming Venture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65392"/>
            <a:ext cx="18288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548640" cy="4445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9144000" cy="73152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3200" b="1">
                <a:solidFill>
                  <a:srgbClr val="0C1A2E"/>
                </a:solidFill>
                <a:latin typeface="Space Grotesk"/>
              </a:rPr>
              <a:t>Slide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1005840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Inter"/>
              </a:rPr>
              <a:t>Short supporting sentence under the title.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buChar char="•"/>
              <a:spcAft>
                <a:spcPts val="1400"/>
              </a:spcAft>
              <a:buClr>
                <a:srgbClr val="0284C7"/>
              </a:buClr>
            </a:pPr>
            <a:r>
              <a:rPr sz="2000">
                <a:solidFill>
                  <a:srgbClr val="0C1A2E"/>
                </a:solidFill>
                <a:latin typeface="Inter"/>
              </a:rPr>
              <a:t>Headline statement that owns the point</a:t>
            </a:r>
          </a:p>
          <a:p>
            <a:pPr algn="l" marL="342900" indent="-342900">
              <a:buChar char="•"/>
              <a:spcAft>
                <a:spcPts val="1400"/>
              </a:spcAft>
              <a:buClr>
                <a:srgbClr val="0284C7"/>
              </a:buClr>
            </a:pPr>
            <a:r>
              <a:rPr sz="2000">
                <a:solidFill>
                  <a:srgbClr val="0C1A2E"/>
                </a:solidFill>
                <a:latin typeface="Inter"/>
              </a:rPr>
              <a:t>Secondary supporting evidence with a number</a:t>
            </a:r>
          </a:p>
          <a:p>
            <a:pPr algn="l" marL="342900" indent="-342900">
              <a:buChar char="•"/>
              <a:spcAft>
                <a:spcPts val="1400"/>
              </a:spcAft>
              <a:buClr>
                <a:srgbClr val="0284C7"/>
              </a:buClr>
            </a:pPr>
            <a:r>
              <a:rPr sz="2000">
                <a:solidFill>
                  <a:srgbClr val="0C1A2E"/>
                </a:solidFill>
                <a:latin typeface="Inter"/>
              </a:rPr>
              <a:t>Third point that earns its space</a:t>
            </a:r>
          </a:p>
          <a:p>
            <a:pPr algn="l" marL="342900" indent="-342900">
              <a:buChar char="•"/>
              <a:spcAft>
                <a:spcPts val="1400"/>
              </a:spcAft>
              <a:buClr>
                <a:srgbClr val="0284C7"/>
              </a:buClr>
            </a:pPr>
            <a:r>
              <a:rPr sz="2000">
                <a:solidFill>
                  <a:srgbClr val="0C1A2E"/>
                </a:solidFill>
                <a:latin typeface="Inter"/>
              </a:rPr>
              <a:t>Fourth point only if it survives the cut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36576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900" b="1">
                <a:solidFill>
                  <a:srgbClr val="0284C7"/>
                </a:solidFill>
                <a:latin typeface="Space Grotesk"/>
              </a:rPr>
              <a:t>Booming Venture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65392"/>
            <a:ext cx="18288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548640" cy="4445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05840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3200" b="1">
                <a:solidFill>
                  <a:srgbClr val="0C1A2E"/>
                </a:solidFill>
                <a:latin typeface="Space Grotesk"/>
              </a:rPr>
              <a:t>Two-column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1005840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Inter"/>
              </a:rPr>
              <a:t>Use this slide when the choice is binary.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68880"/>
            <a:ext cx="5120640" cy="384048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68880"/>
            <a:ext cx="73152" cy="384048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466344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200" b="1">
                <a:solidFill>
                  <a:srgbClr val="0284C7"/>
                </a:solidFill>
                <a:latin typeface="Space Grotesk"/>
              </a:rPr>
              <a:t>OPTION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154680"/>
            <a:ext cx="46634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2200" b="1">
                <a:solidFill>
                  <a:srgbClr val="0C1A2E"/>
                </a:solidFill>
                <a:latin typeface="Space Grotesk"/>
              </a:rPr>
              <a:t>Headline takeaway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023360"/>
            <a:ext cx="4663440" cy="20116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Inter"/>
              </a:rPr>
              <a:t>Three to five short lines describing this option, its strengths, its trade-offs, and the named tool or framework you would use to deliver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2468880"/>
            <a:ext cx="5120640" cy="3840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2468880"/>
            <a:ext cx="73152" cy="38404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743200"/>
            <a:ext cx="466344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Space Grotesk"/>
              </a:rPr>
              <a:t>OPTION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154680"/>
            <a:ext cx="46634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2200" b="1">
                <a:solidFill>
                  <a:srgbClr val="0C1A2E"/>
                </a:solidFill>
                <a:latin typeface="Space Grotesk"/>
              </a:rPr>
              <a:t>Headline takeaway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023360"/>
            <a:ext cx="4663440" cy="20116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Inter"/>
              </a:rPr>
              <a:t>Three to five short lines describing this option, its strengths, its trade-offs, and the named tool or framework you would use to deliver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65392"/>
            <a:ext cx="36576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900" b="1">
                <a:solidFill>
                  <a:srgbClr val="0284C7"/>
                </a:solidFill>
                <a:latin typeface="Space Grotesk"/>
              </a:rPr>
              <a:t>Booming Venture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565392"/>
            <a:ext cx="18288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" b="1">
                <a:solidFill>
                  <a:srgbClr val="0284C7"/>
                </a:solidFill>
                <a:latin typeface="Space Grotesk"/>
              </a:rPr>
              <a:t>THE NUMBER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256032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7000" b="1">
                <a:solidFill>
                  <a:srgbClr val="FFFFFF"/>
                </a:solidFill>
                <a:latin typeface="Space Grotesk"/>
              </a:rPr>
              <a:t>527%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297680"/>
            <a:ext cx="548640" cy="50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434840"/>
            <a:ext cx="1005840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Space Grotesk"/>
              </a:rPr>
              <a:t>Year-over-year growth in AI-referred sessions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1005840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Inter"/>
              </a:rPr>
              <a:t>Source: Frase, January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36576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900" b="1">
                <a:solidFill>
                  <a:srgbClr val="0284C7"/>
                </a:solidFill>
                <a:latin typeface="Space Grotesk"/>
              </a:rPr>
              <a:t>Booming Venture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18288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828800" cy="22860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20000" b="1">
                <a:solidFill>
                  <a:srgbClr val="0284C7"/>
                </a:solidFill>
                <a:latin typeface="Space Grotesk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9601200" cy="237744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2800" b="1">
                <a:solidFill>
                  <a:srgbClr val="0C1A2E"/>
                </a:solidFill>
                <a:latin typeface="Space Grotesk"/>
              </a:rPr>
              <a:t>Brand authority is the single strongest predictor of AI citation. Brand mentions matter roughly three times more than backlinks.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754880"/>
            <a:ext cx="4572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892040"/>
            <a:ext cx="914400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" b="1">
                <a:solidFill>
                  <a:srgbClr val="64748B"/>
                </a:solidFill>
                <a:latin typeface="Inter"/>
              </a:rPr>
              <a:t>Princeton GEO Study  |  ACM KDD 2024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36576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900" b="1">
                <a:solidFill>
                  <a:srgbClr val="0284C7"/>
                </a:solidFill>
                <a:latin typeface="Space Grotesk"/>
              </a:rPr>
              <a:t>Booming Venture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65392"/>
            <a:ext cx="18288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548640" cy="4445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05840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3200" b="1">
                <a:solidFill>
                  <a:srgbClr val="0C1A2E"/>
                </a:solidFill>
                <a:latin typeface="Space Grotesk"/>
              </a:rPr>
              <a:t>Three numbers that frame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Inter"/>
              </a:rPr>
              <a:t>Each card is a self-contained passage. Quotable, citable, scannable.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651760"/>
            <a:ext cx="3383280" cy="329184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651760"/>
            <a:ext cx="3383280" cy="73152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017520"/>
            <a:ext cx="2926080" cy="12801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5600" b="1">
                <a:solidFill>
                  <a:srgbClr val="0369A1"/>
                </a:solidFill>
                <a:latin typeface="Space Grotesk"/>
              </a:rPr>
              <a:t>41%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389120"/>
            <a:ext cx="2926080" cy="9144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600" b="1">
                <a:solidFill>
                  <a:srgbClr val="0C1A2E"/>
                </a:solidFill>
                <a:latin typeface="Inter"/>
              </a:rPr>
              <a:t>AI visibility lift from statistics-addition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394960"/>
            <a:ext cx="292608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Inter"/>
              </a:rPr>
              <a:t>Princeton GEO study, 10,000 queries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6280" y="2651760"/>
            <a:ext cx="3383280" cy="329184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2651760"/>
            <a:ext cx="3383280" cy="73152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3017520"/>
            <a:ext cx="2926080" cy="12801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5600" b="1">
                <a:solidFill>
                  <a:srgbClr val="0369A1"/>
                </a:solidFill>
                <a:latin typeface="Space Grotesk"/>
              </a:rPr>
              <a:t>44.2%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4389120"/>
            <a:ext cx="2926080" cy="9144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600" b="1">
                <a:solidFill>
                  <a:srgbClr val="0C1A2E"/>
                </a:solidFill>
                <a:latin typeface="Inter"/>
              </a:rPr>
              <a:t>Of AI citations land in the first 30% of body content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5394960"/>
            <a:ext cx="292608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Inter"/>
              </a:rPr>
              <a:t>Kevin Indig, 1.2M ChatGPT answers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651760"/>
            <a:ext cx="3383280" cy="329184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2651760"/>
            <a:ext cx="3383280" cy="73152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3017520"/>
            <a:ext cx="2926080" cy="12801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5600" b="1">
                <a:solidFill>
                  <a:srgbClr val="0369A1"/>
                </a:solidFill>
                <a:latin typeface="Space Grotesk"/>
              </a:rPr>
              <a:t>3.49%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389120"/>
            <a:ext cx="2926080" cy="9144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600" b="1">
                <a:solidFill>
                  <a:srgbClr val="0C1A2E"/>
                </a:solidFill>
                <a:latin typeface="Inter"/>
              </a:rPr>
              <a:t>Conversion rate from AI-search referrals (22% higher than organic)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394960"/>
            <a:ext cx="2926080" cy="36576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Inter"/>
              </a:rPr>
              <a:t>Martal 2026 benchmark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65392"/>
            <a:ext cx="36576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900" b="1">
                <a:solidFill>
                  <a:srgbClr val="0284C7"/>
                </a:solidFill>
                <a:latin typeface="Space Grotesk"/>
              </a:rPr>
              <a:t>Booming Venture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65392"/>
            <a:ext cx="1828800" cy="2286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Inter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4572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1400" b="1">
                <a:solidFill>
                  <a:srgbClr val="0284C7"/>
                </a:solidFill>
                <a:latin typeface="Space Grotesk"/>
              </a:rPr>
              <a:t>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Space Grotesk"/>
              </a:rPr>
              <a:t>Let's plug the leaks in your funnel.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pPr algn="l"/>
            <a:r>
              <a:rPr sz="2000" b="0">
                <a:solidFill>
                  <a:srgbClr val="E2E8F0"/>
                </a:solidFill>
                <a:latin typeface="Inter"/>
              </a:rPr>
              <a:t>Book a free UNIFY audit, 30 minutes, no slide deck on our side.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120640"/>
            <a:ext cx="2926080" cy="640080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2926080" cy="640080"/>
          </a:xfrm>
          <a:prstGeom prst="rect">
            <a:avLst/>
          </a:prstGeom>
          <a:noFill/>
        </p:spPr>
        <p:txBody>
          <a:bodyPr wrap="square" tIns="25400" bIns="25400" lIns="25400" rIns="254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pace Grotesk"/>
              </a:rPr>
              <a:t>boomingventure.com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